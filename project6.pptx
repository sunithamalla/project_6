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7459" y="788894"/>
            <a:ext cx="6042212" cy="1837764"/>
          </a:xfrm>
        </p:spPr>
        <p:txBody>
          <a:bodyPr>
            <a:normAutofit/>
          </a:bodyPr>
          <a:lstStyle/>
          <a:p>
            <a:r>
              <a:rPr lang="en-US" sz="3600" dirty="0"/>
              <a:t>Rossmann Sales Forecasting Across Multiple Retail Stores</a:t>
            </a:r>
            <a:endParaRPr lang="en-US" sz="3600" b="1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F578354-147A-A32A-BEDB-7DDBA598333E}"/>
              </a:ext>
            </a:extLst>
          </p:cNvPr>
          <p:cNvSpPr txBox="1">
            <a:spLocks/>
          </p:cNvSpPr>
          <p:nvPr/>
        </p:nvSpPr>
        <p:spPr>
          <a:xfrm>
            <a:off x="5513293" y="2276648"/>
            <a:ext cx="5872521" cy="28443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cap="all" dirty="0"/>
              <a:t>Presented by:</a:t>
            </a:r>
            <a:r>
              <a:rPr lang="en-US" sz="1800" cap="all" dirty="0"/>
              <a:t> Sunitha Malla</a:t>
            </a:r>
          </a:p>
          <a:p>
            <a:br>
              <a:rPr lang="en-US" sz="1800" cap="all" dirty="0"/>
            </a:br>
            <a:endParaRPr lang="en-US" sz="1800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1" y="238999"/>
            <a:ext cx="10058400" cy="765048"/>
          </a:xfrm>
        </p:spPr>
        <p:txBody>
          <a:bodyPr anchor="ctr">
            <a:normAutofit/>
          </a:bodyPr>
          <a:lstStyle/>
          <a:p>
            <a:pPr lvl="0"/>
            <a:r>
              <a:rPr lang="en-US" sz="2400" dirty="0"/>
              <a:t>The </a:t>
            </a:r>
            <a:r>
              <a:rPr lang="en-US" sz="2800" dirty="0"/>
              <a:t>Challenge</a:t>
            </a: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448CB-396F-8BBA-C6AA-991DB00BB7FE}"/>
              </a:ext>
            </a:extLst>
          </p:cNvPr>
          <p:cNvSpPr txBox="1">
            <a:spLocks/>
          </p:cNvSpPr>
          <p:nvPr/>
        </p:nvSpPr>
        <p:spPr>
          <a:xfrm>
            <a:off x="164951" y="1004046"/>
            <a:ext cx="10861637" cy="32362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i="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Rossmann operates a large network of retail stores and needs reliable sales forecasts several weeks in advance.</a:t>
            </a:r>
          </a:p>
          <a:p>
            <a:r>
              <a:rPr lang="en-US" sz="2000" b="1" dirty="0"/>
              <a:t>Existing Approach</a:t>
            </a:r>
          </a:p>
          <a:p>
            <a:r>
              <a:rPr lang="en-US" sz="2000" dirty="0"/>
              <a:t>Store managers rely heavily on experience and personal judgement.</a:t>
            </a:r>
          </a:p>
          <a:p>
            <a:r>
              <a:rPr lang="en-US" sz="2000" dirty="0"/>
              <a:t>Forecasting is inconsistent across locations.</a:t>
            </a:r>
          </a:p>
          <a:p>
            <a:r>
              <a:rPr lang="en-US" sz="2000" dirty="0"/>
              <a:t>Manual forecasting is difficult to scale.</a:t>
            </a:r>
          </a:p>
          <a:p>
            <a:r>
              <a:rPr lang="en-US" sz="2000" dirty="0"/>
              <a:t>Important factors such as promotions, holidays and competition may be overlooked.</a:t>
            </a:r>
          </a:p>
          <a:p>
            <a:r>
              <a:rPr lang="en-US" sz="2000" b="1" dirty="0"/>
              <a:t>Business Need</a:t>
            </a:r>
          </a:p>
          <a:p>
            <a:r>
              <a:rPr lang="en-US" sz="2000" dirty="0"/>
              <a:t>Build an automated machine learning solution capable of forecasting sales across multiple stores and supporting finance-team planning.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C46D62-25EF-E00B-3F8D-8D0D915D9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7C0DBBE0-AE78-8BE5-5A53-A60097DD3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35900-192F-0BD7-4AE0-E2A467777F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1" y="238999"/>
            <a:ext cx="10058400" cy="765048"/>
          </a:xfrm>
        </p:spPr>
        <p:txBody>
          <a:bodyPr anchor="ctr">
            <a:normAutofit/>
          </a:bodyPr>
          <a:lstStyle/>
          <a:p>
            <a:pPr lvl="0"/>
            <a:r>
              <a:rPr lang="en-US" sz="2400" dirty="0"/>
              <a:t>Project Objectives</a:t>
            </a: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81AAF73-E082-D425-9126-3DD86276D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8850F-E157-0F29-4860-B37393EBD99C}"/>
              </a:ext>
            </a:extLst>
          </p:cNvPr>
          <p:cNvSpPr txBox="1"/>
          <p:nvPr/>
        </p:nvSpPr>
        <p:spPr>
          <a:xfrm>
            <a:off x="161903" y="982682"/>
            <a:ext cx="112053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+mj-lt"/>
              </a:rPr>
              <a:t>Objectives</a:t>
            </a:r>
          </a:p>
          <a:p>
            <a:r>
              <a:rPr lang="en-US" sz="1800" dirty="0">
                <a:latin typeface="+mj-lt"/>
              </a:rPr>
              <a:t>Analyze historical sales patterns across stores.</a:t>
            </a:r>
          </a:p>
          <a:p>
            <a:r>
              <a:rPr lang="en-US" sz="1800" dirty="0">
                <a:latin typeface="+mj-lt"/>
              </a:rPr>
              <a:t>Identify key factors influencing sales.</a:t>
            </a:r>
          </a:p>
          <a:p>
            <a:r>
              <a:rPr lang="en-US" sz="1800" dirty="0">
                <a:latin typeface="+mj-lt"/>
              </a:rPr>
              <a:t>Integrate store-level and time-dependent information.</a:t>
            </a:r>
          </a:p>
          <a:p>
            <a:r>
              <a:rPr lang="en-US" sz="1800" dirty="0">
                <a:latin typeface="+mj-lt"/>
              </a:rPr>
              <a:t>Engineer meaningful forecasting features.</a:t>
            </a:r>
          </a:p>
          <a:p>
            <a:r>
              <a:rPr lang="en-US" sz="1800" dirty="0">
                <a:latin typeface="+mj-lt"/>
              </a:rPr>
              <a:t>Build and fine-tune a machine learning model.</a:t>
            </a:r>
          </a:p>
          <a:p>
            <a:r>
              <a:rPr lang="en-US" sz="1800" dirty="0">
                <a:latin typeface="+mj-lt"/>
              </a:rPr>
              <a:t>Evaluate predictions using an appropriate forecasting metric.</a:t>
            </a:r>
          </a:p>
          <a:p>
            <a:r>
              <a:rPr lang="en-US" sz="1800" dirty="0">
                <a:latin typeface="+mj-lt"/>
              </a:rPr>
              <a:t>Generate future sales predictions.</a:t>
            </a:r>
          </a:p>
          <a:p>
            <a:r>
              <a:rPr lang="en-US" sz="1800" dirty="0">
                <a:latin typeface="+mj-lt"/>
              </a:rPr>
              <a:t>Deploy the model through a web application/API.</a:t>
            </a:r>
          </a:p>
          <a:p>
            <a:r>
              <a:rPr lang="en-US" sz="1800" dirty="0">
                <a:latin typeface="+mj-lt"/>
              </a:rPr>
              <a:t>Establish a foundation for </a:t>
            </a:r>
            <a:r>
              <a:rPr lang="en-US" sz="1800" dirty="0" err="1">
                <a:latin typeface="+mj-lt"/>
              </a:rPr>
              <a:t>MLOps</a:t>
            </a:r>
            <a:r>
              <a:rPr lang="en-US" sz="1800" dirty="0">
                <a:latin typeface="+mj-lt"/>
              </a:rPr>
              <a:t> and automated model lifecycle management.</a:t>
            </a:r>
          </a:p>
          <a:p>
            <a:r>
              <a:rPr lang="en-US" sz="1800" b="1" dirty="0">
                <a:latin typeface="+mj-lt"/>
              </a:rPr>
              <a:t>Expected Outcome:</a:t>
            </a:r>
          </a:p>
          <a:p>
            <a:r>
              <a:rPr lang="en-US" sz="1800" b="1" dirty="0">
                <a:latin typeface="+mj-lt"/>
              </a:rPr>
              <a:t>A scalable forecasting system that converts historical retail data into actionable future sales estimates.</a:t>
            </a:r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908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A534B7-6A09-5D94-1132-B6E2BBE3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EBC1B16-DAA3-923F-A650-07BE4F1B6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077BDB-39F9-BB06-FC24-5180041A8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1" y="238999"/>
            <a:ext cx="10058400" cy="638287"/>
          </a:xfrm>
        </p:spPr>
        <p:txBody>
          <a:bodyPr anchor="ctr">
            <a:normAutofit/>
          </a:bodyPr>
          <a:lstStyle/>
          <a:p>
            <a:pPr lvl="0"/>
            <a:r>
              <a:rPr lang="en-US" sz="2800" dirty="0"/>
              <a:t>Dataset Overview</a:t>
            </a: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4E497DF-0CDA-E7B0-2E7A-1EC2EBD8A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62E2E13-791F-D989-B5E9-744430E0E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467986"/>
              </p:ext>
            </p:extLst>
          </p:nvPr>
        </p:nvGraphicFramePr>
        <p:xfrm>
          <a:off x="328395" y="877286"/>
          <a:ext cx="10058400" cy="36576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1671578583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331916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903653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00E1BC4-7AA7-322B-1381-5F7820221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99303"/>
              </p:ext>
            </p:extLst>
          </p:nvPr>
        </p:nvGraphicFramePr>
        <p:xfrm>
          <a:off x="125793" y="1451435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1390510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train.csv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290856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AAFA57D2-26DE-108A-5809-9C8A8F65A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26692"/>
              </p:ext>
            </p:extLst>
          </p:nvPr>
        </p:nvGraphicFramePr>
        <p:xfrm>
          <a:off x="3666564" y="1168006"/>
          <a:ext cx="6018586" cy="927847"/>
        </p:xfrm>
        <a:graphic>
          <a:graphicData uri="http://schemas.openxmlformats.org/drawingml/2006/table">
            <a:tbl>
              <a:tblPr/>
              <a:tblGrid>
                <a:gridCol w="6018586">
                  <a:extLst>
                    <a:ext uri="{9D8B030D-6E8A-4147-A177-3AD203B41FA5}">
                      <a16:colId xmlns:a16="http://schemas.microsoft.com/office/drawing/2014/main" val="1065483643"/>
                    </a:ext>
                  </a:extLst>
                </a:gridCol>
              </a:tblGrid>
              <a:tr h="9278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Historical sales and store-day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32384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33CDBF9-4E40-555E-DC40-2507936E9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206723"/>
              </p:ext>
            </p:extLst>
          </p:nvPr>
        </p:nvGraphicFramePr>
        <p:xfrm>
          <a:off x="125793" y="2222254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32085044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test.csv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58925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3BE5AB6-093F-CF00-1433-F1662FE0B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879464"/>
              </p:ext>
            </p:extLst>
          </p:nvPr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Future store-day records requiring predictions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ECC3D1F5-A2CE-515C-3DD2-7118211F29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604283"/>
              </p:ext>
            </p:extLst>
          </p:nvPr>
        </p:nvGraphicFramePr>
        <p:xfrm>
          <a:off x="164951" y="3010250"/>
          <a:ext cx="10058400" cy="365760"/>
        </p:xfrm>
        <a:graphic>
          <a:graphicData uri="http://schemas.openxmlformats.org/drawingml/2006/table">
            <a:tbl>
              <a:tblPr/>
              <a:tblGrid>
                <a:gridCol w="10058400">
                  <a:extLst>
                    <a:ext uri="{9D8B030D-6E8A-4147-A177-3AD203B41FA5}">
                      <a16:colId xmlns:a16="http://schemas.microsoft.com/office/drawing/2014/main" val="12487946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ourier New" panose="02070309020205020404" pitchFamily="49" charset="0"/>
                        </a:rPr>
                        <a:t>store.csv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19423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7A8E74B-7FFF-42F5-78A6-B189FD20B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99335"/>
              </p:ext>
            </p:extLst>
          </p:nvPr>
        </p:nvGraphicFramePr>
        <p:xfrm>
          <a:off x="3666564" y="3010250"/>
          <a:ext cx="8286657" cy="365760"/>
        </p:xfrm>
        <a:graphic>
          <a:graphicData uri="http://schemas.openxmlformats.org/drawingml/2006/table">
            <a:tbl>
              <a:tblPr/>
              <a:tblGrid>
                <a:gridCol w="8286657">
                  <a:extLst>
                    <a:ext uri="{9D8B030D-6E8A-4147-A177-3AD203B41FA5}">
                      <a16:colId xmlns:a16="http://schemas.microsoft.com/office/drawing/2014/main" val="76213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characteristics and promotion/competition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56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39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3A65-986A-891D-6FCF-25448F480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387" y="447969"/>
            <a:ext cx="10286104" cy="484362"/>
          </a:xfrm>
        </p:spPr>
        <p:txBody>
          <a:bodyPr>
            <a:normAutofit/>
          </a:bodyPr>
          <a:lstStyle/>
          <a:p>
            <a:r>
              <a:rPr lang="en-US" sz="2800" dirty="0"/>
              <a:t>Solution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B368C-92E2-8949-D278-779E8D2E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387" y="1093693"/>
            <a:ext cx="10112189" cy="5199530"/>
          </a:xfrm>
        </p:spPr>
        <p:txBody>
          <a:bodyPr>
            <a:noAutofit/>
          </a:bodyPr>
          <a:lstStyle/>
          <a:p>
            <a:r>
              <a:rPr lang="en-US" sz="1600" b="1" dirty="0"/>
              <a:t>End-to-End Pipeline</a:t>
            </a:r>
          </a:p>
          <a:p>
            <a:r>
              <a:rPr lang="en-US" sz="1400" dirty="0"/>
              <a:t>Historical Data</a:t>
            </a:r>
          </a:p>
          <a:p>
            <a:r>
              <a:rPr lang="en-US" sz="1400" dirty="0"/>
              <a:t>      ↓</a:t>
            </a:r>
          </a:p>
          <a:p>
            <a:r>
              <a:rPr lang="en-US" sz="1400" dirty="0"/>
              <a:t>Data Cleaning</a:t>
            </a:r>
          </a:p>
          <a:p>
            <a:r>
              <a:rPr lang="en-US" sz="1400" dirty="0"/>
              <a:t>      ↓</a:t>
            </a:r>
          </a:p>
          <a:p>
            <a:r>
              <a:rPr lang="en-US" sz="1400" dirty="0"/>
              <a:t>Exploratory Data Analysis</a:t>
            </a:r>
          </a:p>
          <a:p>
            <a:r>
              <a:rPr lang="en-US" sz="1400" dirty="0"/>
              <a:t>      ↓</a:t>
            </a:r>
          </a:p>
          <a:p>
            <a:r>
              <a:rPr lang="en-US" sz="1400" dirty="0"/>
              <a:t>Feature Engineering</a:t>
            </a:r>
          </a:p>
          <a:p>
            <a:r>
              <a:rPr lang="en-US" sz="1400" dirty="0"/>
              <a:t>      ↓</a:t>
            </a:r>
          </a:p>
          <a:p>
            <a:r>
              <a:rPr lang="en-US" sz="1400" dirty="0"/>
              <a:t>Time-Based Validation</a:t>
            </a:r>
          </a:p>
          <a:p>
            <a:r>
              <a:rPr lang="en-US" sz="1400" dirty="0"/>
              <a:t>      ↓</a:t>
            </a:r>
          </a:p>
          <a:p>
            <a:r>
              <a:rPr lang="en-US" sz="1400" dirty="0"/>
              <a:t>Model Training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Model Evaluation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Final Model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Future Forecasting  </a:t>
            </a:r>
            <a:r>
              <a:rPr lang="en-US" sz="1400" dirty="0">
                <a:sym typeface="Wingdings" panose="05000000000000000000" pitchFamily="2" charset="2"/>
              </a:rPr>
              <a:t></a:t>
            </a:r>
            <a:r>
              <a:rPr lang="en-US" sz="1400" dirty="0"/>
              <a:t> Flask REST API </a:t>
            </a:r>
            <a:r>
              <a:rPr lang="en-US" sz="1400" dirty="0">
                <a:sym typeface="Wingdings" panose="05000000000000000000" pitchFamily="2" charset="2"/>
              </a:rPr>
              <a:t> Web Application</a:t>
            </a:r>
            <a:endParaRPr lang="en-US" sz="1400" dirty="0"/>
          </a:p>
          <a:p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517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A1CBE6-4A75-7449-2008-A3FD8BFF2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8F5AA121-F4DD-86E6-8700-0584FEE4D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8ABA7-2AE6-8032-82BE-78E68CA37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951" y="238999"/>
            <a:ext cx="10058400" cy="638287"/>
          </a:xfrm>
        </p:spPr>
        <p:txBody>
          <a:bodyPr anchor="ctr">
            <a:normAutofit/>
          </a:bodyPr>
          <a:lstStyle/>
          <a:p>
            <a:pPr lvl="0"/>
            <a:r>
              <a:rPr lang="en-US" sz="2800" dirty="0"/>
              <a:t>Modeling Approach</a:t>
            </a:r>
            <a:endParaRPr lang="en-US" sz="2800" i="1" dirty="0">
              <a:solidFill>
                <a:srgbClr val="FFFFFF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F99343-8A0C-4115-97F2-9E920BE5D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D0675FD-E13F-1BA5-7315-77915C148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568961"/>
              </p:ext>
            </p:extLst>
          </p:nvPr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BBC972F-1F46-F9EC-B14C-75327BDF0E42}"/>
              </a:ext>
            </a:extLst>
          </p:cNvPr>
          <p:cNvSpPr txBox="1"/>
          <p:nvPr/>
        </p:nvSpPr>
        <p:spPr>
          <a:xfrm>
            <a:off x="93233" y="777331"/>
            <a:ext cx="1086163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Machine Learning Model</a:t>
            </a:r>
          </a:p>
          <a:p>
            <a:pPr>
              <a:buNone/>
            </a:pPr>
            <a:r>
              <a:rPr lang="en-US" b="1" dirty="0"/>
              <a:t>Selected Model: </a:t>
            </a:r>
            <a:r>
              <a:rPr lang="en-US" b="1" dirty="0" err="1"/>
              <a:t>LightGBM</a:t>
            </a:r>
            <a:r>
              <a:rPr lang="en-US" b="1" dirty="0"/>
              <a:t> Regressor</a:t>
            </a:r>
          </a:p>
          <a:p>
            <a:pPr>
              <a:buNone/>
            </a:pPr>
            <a:r>
              <a:rPr lang="en-US" dirty="0" err="1"/>
              <a:t>LightGBM</a:t>
            </a:r>
            <a:r>
              <a:rPr lang="en-US" dirty="0"/>
              <a:t> was selected because it is well suited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tabular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Nonlinear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interactions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High-dimensional engineered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Large-scale prediction</a:t>
            </a:r>
          </a:p>
          <a:p>
            <a:pPr>
              <a:buNone/>
            </a:pPr>
            <a:r>
              <a:rPr lang="en-US" b="1" dirty="0"/>
              <a:t>Target Transformation</a:t>
            </a:r>
          </a:p>
          <a:p>
            <a:pPr>
              <a:buNone/>
            </a:pPr>
            <a:r>
              <a:rPr lang="en-US" dirty="0"/>
              <a:t>The sales target is transformed using: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log1p(Sales)</a:t>
            </a:r>
          </a:p>
          <a:p>
            <a:pPr>
              <a:buNone/>
            </a:pPr>
            <a:r>
              <a:rPr lang="en-US" dirty="0"/>
              <a:t>The prediction is converted back using: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expm1(Prediction)</a:t>
            </a:r>
          </a:p>
          <a:p>
            <a:pPr>
              <a:buNone/>
            </a:pPr>
            <a:r>
              <a:rPr lang="en-US" dirty="0"/>
              <a:t>This helps reduce the effect of highly skewed sales values.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646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1FAB2B1-C605-61CF-488E-48C27689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8FF43E8-856F-CA95-F7E5-B8C4EB16B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D6901C8-6241-0527-C13A-6CAA82EC2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705B8AD-6046-F0C4-AE66-E45865C4D303}"/>
              </a:ext>
            </a:extLst>
          </p:cNvPr>
          <p:cNvGraphicFramePr>
            <a:graphicFrameLocks noGrp="1"/>
          </p:cNvGraphicFramePr>
          <p:nvPr/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8734692-2D13-366D-41B6-354A73AA0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40387"/>
            <a:ext cx="7817224" cy="46024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Outputs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53F57F-99AB-7135-12EB-14AA65C32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79127"/>
            <a:ext cx="4814047" cy="30859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E5A877-44AE-172E-5B71-2E3A3AD6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046" y="1079126"/>
            <a:ext cx="5047129" cy="317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95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AFFF35-4AA2-A58F-EC8E-0E90A1587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BCF7790-8DB3-AAF3-9760-5E14BFFF8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8EBE09-B9AB-04C9-EC99-54A91CAF4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404D9C0-1C20-0397-4C39-E244EF1F4BF5}"/>
              </a:ext>
            </a:extLst>
          </p:cNvPr>
          <p:cNvGraphicFramePr>
            <a:graphicFrameLocks noGrp="1"/>
          </p:cNvGraphicFramePr>
          <p:nvPr/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FEC10FCB-45E6-F6F2-393F-622B93830E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40387"/>
            <a:ext cx="7817224" cy="46024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Outputs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FCA18A-F4F0-8554-B8BD-34080C8F1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" y="848891"/>
            <a:ext cx="5815984" cy="33196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029B18-9ACC-A869-5D06-5D53520A9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694" y="848890"/>
            <a:ext cx="5280097" cy="33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343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D889A3-C299-1BE7-5D14-83151A3CD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C462FA1-7B98-43A8-680C-EA8544A32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0EB4E6-58D8-A41F-475F-F55EBA9B42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9CD22B2-3549-89FE-023B-75AC59FA1B40}"/>
              </a:ext>
            </a:extLst>
          </p:cNvPr>
          <p:cNvGraphicFramePr>
            <a:graphicFrameLocks noGrp="1"/>
          </p:cNvGraphicFramePr>
          <p:nvPr/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4B9B82E-0ED2-3D4A-FF52-4AA7091E475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1362635" y="3813362"/>
              <a:ext cx="3048000" cy="1714500"/>
            </p:xfrm>
            <a:graphic>
              <a:graphicData uri="http://schemas.microsoft.com/office/powerpoint/2016/slidezoom">
                <pslz:sldZm>
                  <pslz:sldZmObj sldId="264" cId="2460952169">
                    <pslz:zmPr id="{87F5B079-77D6-47BA-8C6B-B37442132710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4B9B82E-0ED2-3D4A-FF52-4AA7091E475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-1362635" y="381336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7" name="Title 6">
            <a:extLst>
              <a:ext uri="{FF2B5EF4-FFF2-40B4-BE49-F238E27FC236}">
                <a16:creationId xmlns:a16="http://schemas.microsoft.com/office/drawing/2014/main" id="{26F05938-94A9-F7AB-0672-3F0BE469C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140387"/>
            <a:ext cx="7817224" cy="46024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0B9B4-0B4B-C668-CF16-F3FF20831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58" y="887282"/>
            <a:ext cx="9717741" cy="4919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27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9DC905-99FB-C2E7-E604-0FB55D715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CA27EC8-C86A-EA14-02D3-3B962CE4E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8F20F1D-CF92-708B-84F5-3F990E970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43198F6F-CCCC-1D0F-E4AE-B3E8D5EBC845}"/>
              </a:ext>
            </a:extLst>
          </p:cNvPr>
          <p:cNvGraphicFramePr>
            <a:graphicFrameLocks noGrp="1"/>
          </p:cNvGraphicFramePr>
          <p:nvPr/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AAE84EBE-CEF6-E60D-A74F-181E9F4E3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906" y="167353"/>
            <a:ext cx="7817224" cy="460248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DA0C4-6E99-6FC4-69F2-963513A4ADE5}"/>
              </a:ext>
            </a:extLst>
          </p:cNvPr>
          <p:cNvSpPr txBox="1"/>
          <p:nvPr/>
        </p:nvSpPr>
        <p:spPr>
          <a:xfrm>
            <a:off x="277906" y="684878"/>
            <a:ext cx="107128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The project developed an end-to-end machine learning pipeline for forecasting sales across multiple retail stores.</a:t>
            </a:r>
          </a:p>
          <a:p>
            <a:pPr>
              <a:buNone/>
            </a:pPr>
            <a:r>
              <a:rPr lang="en-US" b="1"/>
              <a:t>Key Achievements</a:t>
            </a:r>
          </a:p>
          <a:p>
            <a:pPr>
              <a:buNone/>
            </a:pPr>
            <a:r>
              <a:rPr lang="en-US"/>
              <a:t>✓ Historical retail data analyzed</a:t>
            </a:r>
            <a:br>
              <a:rPr lang="en-US"/>
            </a:br>
            <a:r>
              <a:rPr lang="en-US"/>
              <a:t>✓ Business and temporal features engineered</a:t>
            </a:r>
            <a:br>
              <a:rPr lang="en-US"/>
            </a:br>
            <a:r>
              <a:rPr lang="en-US"/>
              <a:t>✓ Lag and rolling sales features created</a:t>
            </a:r>
            <a:br>
              <a:rPr lang="en-US"/>
            </a:br>
            <a:r>
              <a:rPr lang="en-US"/>
              <a:t>✓ Time-based validation implemented</a:t>
            </a:r>
            <a:br>
              <a:rPr lang="en-US"/>
            </a:br>
            <a:r>
              <a:rPr lang="en-US"/>
              <a:t>✓ LightGBM forecasting model developed</a:t>
            </a:r>
            <a:br>
              <a:rPr lang="en-US"/>
            </a:br>
            <a:r>
              <a:rPr lang="en-US"/>
              <a:t>✓ RMSPE used for evaluation</a:t>
            </a:r>
            <a:br>
              <a:rPr lang="en-US"/>
            </a:br>
            <a:r>
              <a:rPr lang="en-US"/>
              <a:t>✓ Future sales predictions generated</a:t>
            </a:r>
            <a:br>
              <a:rPr lang="en-US"/>
            </a:br>
            <a:r>
              <a:rPr lang="en-US"/>
              <a:t>✓ Flask prediction API developed</a:t>
            </a:r>
            <a:br>
              <a:rPr lang="en-US"/>
            </a:br>
            <a:r>
              <a:rPr lang="en-US"/>
              <a:t>✓ Web-based prediction interface implemented</a:t>
            </a:r>
            <a:br>
              <a:rPr lang="en-US"/>
            </a:br>
            <a:r>
              <a:rPr lang="en-US"/>
              <a:t>✓ MLOps architecture established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02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326687-8D5D-F138-F4C5-748129DDA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90D09A96-5B2A-9BD7-5729-306771C7C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65726FA-6D7D-ECEF-D9A1-90FD7F752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9158D66-6214-CBE5-3693-7D444C12C952}"/>
              </a:ext>
            </a:extLst>
          </p:cNvPr>
          <p:cNvGraphicFramePr>
            <a:graphicFrameLocks noGrp="1"/>
          </p:cNvGraphicFramePr>
          <p:nvPr/>
        </p:nvGraphicFramePr>
        <p:xfrm>
          <a:off x="3666564" y="2165778"/>
          <a:ext cx="7103316" cy="365760"/>
        </p:xfrm>
        <a:graphic>
          <a:graphicData uri="http://schemas.openxmlformats.org/drawingml/2006/table">
            <a:tbl>
              <a:tblPr/>
              <a:tblGrid>
                <a:gridCol w="7103316">
                  <a:extLst>
                    <a:ext uri="{9D8B030D-6E8A-4147-A177-3AD203B41FA5}">
                      <a16:colId xmlns:a16="http://schemas.microsoft.com/office/drawing/2014/main" val="5121820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12547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131769D6-C0EE-1569-16ED-7FC933CDCD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906" y="391033"/>
            <a:ext cx="7817224" cy="460248"/>
          </a:xfrm>
        </p:spPr>
        <p:txBody>
          <a:bodyPr>
            <a:noAutofit/>
          </a:bodyPr>
          <a:lstStyle/>
          <a:p>
            <a:r>
              <a:rPr lang="en-US" sz="2800" dirty="0"/>
              <a:t>Final Takeaway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BC9FA2-AEA6-D281-7BC1-AB82F35A0327}"/>
              </a:ext>
            </a:extLst>
          </p:cNvPr>
          <p:cNvSpPr txBox="1"/>
          <p:nvPr/>
        </p:nvSpPr>
        <p:spPr>
          <a:xfrm>
            <a:off x="277906" y="1138682"/>
            <a:ext cx="107128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j-lt"/>
              </a:rPr>
              <a:t>The solution provides Rossmann with a scalable, data-driven approach to future sales forecasting and creates a foundation for production-grade ML operations.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F6C132C-002C-F72C-623E-736F42041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64" y="2381250"/>
            <a:ext cx="3477186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7657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{97C77EE5-9DBB-4093-8C82-18ABBC21D852}TFf0a5ceae-4542-492d-822e-d65a94fb0e1e3b562c5a_win32-009a0557e699</Template>
  <TotalTime>39</TotalTime>
  <Words>429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Courier New</vt:lpstr>
      <vt:lpstr>Franklin Gothic Book</vt:lpstr>
      <vt:lpstr>Wingdings</vt:lpstr>
      <vt:lpstr>Custom</vt:lpstr>
      <vt:lpstr>Rossmann Sales Forecasting Across Multiple Retail Stores</vt:lpstr>
      <vt:lpstr>The Challenge</vt:lpstr>
      <vt:lpstr>Project Objectives</vt:lpstr>
      <vt:lpstr>Dataset Overview</vt:lpstr>
      <vt:lpstr>Solution Architecture</vt:lpstr>
      <vt:lpstr>Modeling Approach</vt:lpstr>
      <vt:lpstr>Outputs</vt:lpstr>
      <vt:lpstr>Outputs</vt:lpstr>
      <vt:lpstr>Outputs</vt:lpstr>
      <vt:lpstr>Conclusion</vt:lpstr>
      <vt:lpstr>Final Takeaway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Sunitha Malla</dc:creator>
  <cp:lastModifiedBy>Sunitha Malla</cp:lastModifiedBy>
  <cp:revision>1</cp:revision>
  <dcterms:created xsi:type="dcterms:W3CDTF">2026-09-14T18:03:29Z</dcterms:created>
  <dcterms:modified xsi:type="dcterms:W3CDTF">2026-09-14T18:43:14Z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